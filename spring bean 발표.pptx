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3" r:id="rId6"/>
    <p:sldId id="261" r:id="rId7"/>
    <p:sldId id="262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75"/>
    <p:restoredTop sz="94680"/>
  </p:normalViewPr>
  <p:slideViewPr>
    <p:cSldViewPr snapToGrid="0">
      <p:cViewPr varScale="1">
        <p:scale>
          <a:sx n="144" d="100"/>
          <a:sy n="144" d="100"/>
        </p:scale>
        <p:origin x="21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2B91D9-19F2-DB8E-17EA-C0AC762E93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99F88F5-7122-E78C-521E-27C0259083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FBE924-5009-17B5-BCBF-5EABCADD1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FC608-B975-404A-8EE2-0DEB55D1910C}" type="datetimeFigureOut">
              <a:rPr kumimoji="1" lang="ko-KR" altLang="en-US" smtClean="0"/>
              <a:t>2026. 2. 23.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71050E-8546-2CF9-80DC-714E720F9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AFD737-DE41-5DC1-4BEB-39A5ED215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9A8C7-677E-D742-B412-6A88A27862A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43670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69639D-9094-1906-C959-FCD0D5C3D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816488-C29E-2810-A2E3-32840F882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A17AEE-2AF3-D1F1-B62F-FAD46788D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FC608-B975-404A-8EE2-0DEB55D1910C}" type="datetimeFigureOut">
              <a:rPr kumimoji="1" lang="ko-KR" altLang="en-US" smtClean="0"/>
              <a:t>2026. 2. 23.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294DEE-881E-4273-8786-275B762C9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F068E7-E7BD-6D4F-BC61-FB5245CB3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9A8C7-677E-D742-B412-6A88A27862A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91106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799C66-1C80-2EEB-E75A-FD4F7F6FC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1501F6-1426-C72A-C380-67F0F27A3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B5C87B-47EE-7B73-E47F-291ED21C1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FC608-B975-404A-8EE2-0DEB55D1910C}" type="datetimeFigureOut">
              <a:rPr kumimoji="1" lang="ko-KR" altLang="en-US" smtClean="0"/>
              <a:t>2026. 2. 23.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145A76-3CF0-066A-896A-DDB6EA577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0E57ED-B1B5-357E-FE80-2296B25BC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9A8C7-677E-D742-B412-6A88A27862A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07628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69ACF5-1EFE-B12B-87D9-176933FCF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082C45-9962-07B1-1DBB-7602CE3D2F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4DA02CE-DB3A-1B8B-37DB-B1B2F1CD75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619011-19E7-EB70-3C1B-7B41900A7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FC608-B975-404A-8EE2-0DEB55D1910C}" type="datetimeFigureOut">
              <a:rPr kumimoji="1" lang="ko-KR" altLang="en-US" smtClean="0"/>
              <a:t>2026. 2. 23.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0A971D6-0ECA-72F6-A6B7-227A7BCE4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7430603-7C9A-69DB-D8E3-E0F4D1432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9A8C7-677E-D742-B412-6A88A27862A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7739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E90F22-76C9-EED7-1154-F40F0C8D0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7187AB-C378-90E4-0420-5FFED6D05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1B82125-EAC5-5A37-8C21-92FC8A33AE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5DBDBCB-2D1A-F7DA-37D5-5FC9E7495A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F1E6374-7EAB-A626-77FF-3DA1160690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0D66088-2825-5A9D-7134-334E9FB09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FC608-B975-404A-8EE2-0DEB55D1910C}" type="datetimeFigureOut">
              <a:rPr kumimoji="1" lang="ko-KR" altLang="en-US" smtClean="0"/>
              <a:t>2026. 2. 23.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2501153-A7DC-FD74-093C-DF7A5218F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89E74FB-D826-44DE-1EDE-20BC4278F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9A8C7-677E-D742-B412-6A88A27862A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03000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376D7E-2955-2DE1-05C7-508A32EE9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0483DCB-F2B4-FAAA-038E-6192AB832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FC608-B975-404A-8EE2-0DEB55D1910C}" type="datetimeFigureOut">
              <a:rPr kumimoji="1" lang="ko-KR" altLang="en-US" smtClean="0"/>
              <a:t>2026. 2. 23.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19A84BF-6F1B-53BB-E96A-D88977798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C102836-892E-EC50-7B51-E349681D4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9A8C7-677E-D742-B412-6A88A27862A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09107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5E20A62-6208-46B9-8AFE-4129C8B11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FC608-B975-404A-8EE2-0DEB55D1910C}" type="datetimeFigureOut">
              <a:rPr kumimoji="1" lang="ko-KR" altLang="en-US" smtClean="0"/>
              <a:t>2026. 2. 23.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0561733-50EE-D741-8EA1-950A03611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63136D-1035-2618-AEBA-0C5043597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9A8C7-677E-D742-B412-6A88A27862A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87405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A86C39-6A49-321B-816B-B4F1E08DC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896F36-E4C6-EEEF-8A60-79E015147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9DDDAC9-E497-E824-5EB3-1E39AFDBBF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2CB34D-BE23-A9E1-0831-09AE6BF1D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FC608-B975-404A-8EE2-0DEB55D1910C}" type="datetimeFigureOut">
              <a:rPr kumimoji="1" lang="ko-KR" altLang="en-US" smtClean="0"/>
              <a:t>2026. 2. 23.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0F747EE-4E9A-731C-15BE-4A2577E89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3C8CD6F-157C-C58D-0759-DE4755408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9A8C7-677E-D742-B412-6A88A27862A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36103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360073-183A-561F-381B-99C1452DB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45F029D-4B9F-E28D-D1E8-C370A1E136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CB10CD2-4757-2CB0-E283-199FC2474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D80314-2A07-99DC-7451-D8FC5C7D0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FC608-B975-404A-8EE2-0DEB55D1910C}" type="datetimeFigureOut">
              <a:rPr kumimoji="1" lang="ko-KR" altLang="en-US" smtClean="0"/>
              <a:t>2026. 2. 23.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CDFA697-CBBF-389D-0B28-BB87F750C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BD94AFE-C4B5-DF57-C111-8272FB339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9A8C7-677E-D742-B412-6A88A27862A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14455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C2B16E-5ADA-BFB6-E897-3459887B7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BBA3F20-756C-75E4-2AEF-7F71E0D1B2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4EEDB4-2D56-E27E-1E1D-824C8C70A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FC608-B975-404A-8EE2-0DEB55D1910C}" type="datetimeFigureOut">
              <a:rPr kumimoji="1" lang="ko-KR" altLang="en-US" smtClean="0"/>
              <a:t>2026. 2. 23.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0CCA05-9954-7ADD-DD4C-E45352CD3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B5A70A-653F-BE3C-A032-FF78640BE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9A8C7-677E-D742-B412-6A88A27862A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48511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45357E2-A438-B0FE-6953-28DFE14198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5798409-4CDE-0F4E-5335-85175AF6A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96C038-B208-98FA-F780-B24D296BD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FC608-B975-404A-8EE2-0DEB55D1910C}" type="datetimeFigureOut">
              <a:rPr kumimoji="1" lang="ko-KR" altLang="en-US" smtClean="0"/>
              <a:t>2026. 2. 23.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74DAB1-316F-B147-DD39-506E3298E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615C15-0978-61C8-689E-C0170CAA7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9A8C7-677E-D742-B412-6A88A27862A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80709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200103B-DA40-33F0-4ACA-9038C731C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546F97-BF0E-E814-1E86-F6D2B150B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4AEE8C-3524-9FB1-D03E-D2F3AD2F9E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AFC608-B975-404A-8EE2-0DEB55D1910C}" type="datetimeFigureOut">
              <a:rPr kumimoji="1" lang="ko-KR" altLang="en-US" smtClean="0"/>
              <a:t>2026. 2. 23.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71C6DC-6AB6-3643-0B2B-BA90A156BD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BC349B-86CA-C6EF-EF90-6D2E134B6D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F9A8C7-677E-D742-B412-6A88A27862A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55572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B6F21F-3E24-3494-BA59-A4DADA7C10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99823"/>
            <a:ext cx="9144000" cy="2387600"/>
          </a:xfrm>
        </p:spPr>
        <p:txBody>
          <a:bodyPr/>
          <a:lstStyle/>
          <a:p>
            <a:r>
              <a:rPr kumimoji="1" lang="en-US" altLang="ko-KR" dirty="0"/>
              <a:t>Spring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1590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656F4-DB83-3FC1-B439-409C535CB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0C6F76-FDAD-024B-0EAF-11ECFEB36E60}"/>
              </a:ext>
            </a:extLst>
          </p:cNvPr>
          <p:cNvSpPr txBox="1"/>
          <p:nvPr/>
        </p:nvSpPr>
        <p:spPr>
          <a:xfrm>
            <a:off x="654756" y="496711"/>
            <a:ext cx="39849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3200" dirty="0"/>
              <a:t>Spring</a:t>
            </a:r>
            <a:r>
              <a:rPr kumimoji="1" lang="ko-KR" altLang="en-US" sz="3200" dirty="0"/>
              <a:t> 사용 이유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2091F6-475E-2C4A-DC62-F285BC890492}"/>
              </a:ext>
            </a:extLst>
          </p:cNvPr>
          <p:cNvSpPr txBox="1"/>
          <p:nvPr/>
        </p:nvSpPr>
        <p:spPr>
          <a:xfrm>
            <a:off x="1209582" y="3688218"/>
            <a:ext cx="63275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ko-KR" dirty="0"/>
              <a:t>public class </a:t>
            </a:r>
            <a:r>
              <a:rPr kumimoji="1" lang="en" altLang="ko-KR" dirty="0" err="1"/>
              <a:t>OrderService</a:t>
            </a:r>
            <a:r>
              <a:rPr kumimoji="1" lang="en" altLang="ko-KR" dirty="0"/>
              <a:t> {</a:t>
            </a:r>
          </a:p>
          <a:p>
            <a:r>
              <a:rPr kumimoji="1" lang="en" altLang="ko-KR" dirty="0"/>
              <a:t>    private final </a:t>
            </a:r>
            <a:r>
              <a:rPr kumimoji="1" lang="en" altLang="ko-KR" dirty="0" err="1"/>
              <a:t>PaymentService</a:t>
            </a:r>
            <a:r>
              <a:rPr kumimoji="1" lang="en" altLang="ko-KR" dirty="0"/>
              <a:t> </a:t>
            </a:r>
            <a:r>
              <a:rPr kumimoji="1" lang="en" altLang="ko-KR" dirty="0" err="1"/>
              <a:t>paymentService</a:t>
            </a:r>
            <a:r>
              <a:rPr kumimoji="1" lang="en" altLang="ko-KR" dirty="0"/>
              <a:t>;</a:t>
            </a:r>
          </a:p>
          <a:p>
            <a:endParaRPr kumimoji="1" lang="en" altLang="ko-KR" dirty="0"/>
          </a:p>
          <a:p>
            <a:r>
              <a:rPr kumimoji="1" lang="en" altLang="ko-KR" dirty="0"/>
              <a:t>    public </a:t>
            </a:r>
            <a:r>
              <a:rPr kumimoji="1" lang="en" altLang="ko-KR" dirty="0" err="1"/>
              <a:t>OrderService</a:t>
            </a:r>
            <a:r>
              <a:rPr kumimoji="1" lang="en" altLang="ko-KR" dirty="0"/>
              <a:t>(</a:t>
            </a:r>
            <a:r>
              <a:rPr kumimoji="1" lang="en" altLang="ko-KR" dirty="0" err="1"/>
              <a:t>PaymentService</a:t>
            </a:r>
            <a:r>
              <a:rPr kumimoji="1" lang="en" altLang="ko-KR" dirty="0"/>
              <a:t> </a:t>
            </a:r>
            <a:r>
              <a:rPr kumimoji="1" lang="en" altLang="ko-KR" dirty="0" err="1"/>
              <a:t>paymentService</a:t>
            </a:r>
            <a:r>
              <a:rPr kumimoji="1" lang="en" altLang="ko-KR" dirty="0"/>
              <a:t>) {</a:t>
            </a:r>
          </a:p>
          <a:p>
            <a:r>
              <a:rPr kumimoji="1" lang="en" altLang="ko-KR" dirty="0"/>
              <a:t>        </a:t>
            </a:r>
            <a:r>
              <a:rPr kumimoji="1" lang="en" altLang="ko-KR" dirty="0" err="1"/>
              <a:t>this.paymentService</a:t>
            </a:r>
            <a:r>
              <a:rPr kumimoji="1" lang="en" altLang="ko-KR" dirty="0"/>
              <a:t> = </a:t>
            </a:r>
            <a:r>
              <a:rPr kumimoji="1" lang="en" altLang="ko-KR" dirty="0" err="1"/>
              <a:t>paymentService</a:t>
            </a:r>
            <a:r>
              <a:rPr kumimoji="1" lang="en" altLang="ko-KR" dirty="0"/>
              <a:t>;</a:t>
            </a:r>
          </a:p>
          <a:p>
            <a:r>
              <a:rPr kumimoji="1" lang="en" altLang="ko-KR" dirty="0"/>
              <a:t>    }</a:t>
            </a:r>
          </a:p>
          <a:p>
            <a:r>
              <a:rPr kumimoji="1" lang="en" altLang="ko-KR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A3F4DE-1463-DEC9-2A19-E908F2911BBF}"/>
              </a:ext>
            </a:extLst>
          </p:cNvPr>
          <p:cNvSpPr txBox="1"/>
          <p:nvPr/>
        </p:nvSpPr>
        <p:spPr>
          <a:xfrm>
            <a:off x="1209582" y="2246452"/>
            <a:ext cx="82540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ko-KR" dirty="0"/>
              <a:t>public class </a:t>
            </a:r>
            <a:r>
              <a:rPr kumimoji="1" lang="en" altLang="ko-KR" dirty="0" err="1"/>
              <a:t>OrderService</a:t>
            </a:r>
            <a:r>
              <a:rPr kumimoji="1" lang="en" altLang="ko-KR" dirty="0"/>
              <a:t> {</a:t>
            </a:r>
          </a:p>
          <a:p>
            <a:r>
              <a:rPr kumimoji="1" lang="en" altLang="ko-KR" dirty="0"/>
              <a:t>    private final </a:t>
            </a:r>
            <a:r>
              <a:rPr kumimoji="1" lang="en" altLang="ko-KR" dirty="0" err="1"/>
              <a:t>PaymentService</a:t>
            </a:r>
            <a:r>
              <a:rPr kumimoji="1" lang="en" altLang="ko-KR" dirty="0"/>
              <a:t> </a:t>
            </a:r>
            <a:r>
              <a:rPr kumimoji="1" lang="en" altLang="ko-KR" dirty="0" err="1"/>
              <a:t>paymentService</a:t>
            </a:r>
            <a:r>
              <a:rPr kumimoji="1" lang="ko-KR" altLang="en-US" dirty="0"/>
              <a:t> </a:t>
            </a:r>
            <a:r>
              <a:rPr kumimoji="1" lang="en-US" altLang="ko-KR" dirty="0"/>
              <a:t>=</a:t>
            </a:r>
            <a:r>
              <a:rPr kumimoji="1" lang="ko-KR" altLang="en-US" dirty="0"/>
              <a:t> </a:t>
            </a:r>
            <a:r>
              <a:rPr kumimoji="1" lang="en-US" altLang="ko-KR" dirty="0"/>
              <a:t>new </a:t>
            </a:r>
            <a:r>
              <a:rPr kumimoji="1" lang="en-US" altLang="ko-KR" dirty="0" err="1"/>
              <a:t>PaymentService</a:t>
            </a:r>
            <a:r>
              <a:rPr kumimoji="1" lang="en-US" altLang="ko-KR" dirty="0"/>
              <a:t>()</a:t>
            </a:r>
            <a:r>
              <a:rPr kumimoji="1" lang="en" altLang="ko-KR" dirty="0"/>
              <a:t>;</a:t>
            </a:r>
          </a:p>
          <a:p>
            <a:r>
              <a:rPr kumimoji="1" lang="en" altLang="ko-KR" dirty="0"/>
              <a:t>}</a:t>
            </a:r>
          </a:p>
        </p:txBody>
      </p:sp>
      <p:sp>
        <p:nvSpPr>
          <p:cNvPr id="8" name="타원형 설명선[O] 7">
            <a:extLst>
              <a:ext uri="{FF2B5EF4-FFF2-40B4-BE49-F238E27FC236}">
                <a16:creationId xmlns:a16="http://schemas.microsoft.com/office/drawing/2014/main" id="{F110601A-7399-6ED4-04FC-835F9AFF15D4}"/>
              </a:ext>
            </a:extLst>
          </p:cNvPr>
          <p:cNvSpPr/>
          <p:nvPr/>
        </p:nvSpPr>
        <p:spPr>
          <a:xfrm>
            <a:off x="8211845" y="1438183"/>
            <a:ext cx="2645545" cy="701335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개발자가 직접 객체 생성</a:t>
            </a:r>
          </a:p>
        </p:txBody>
      </p:sp>
      <p:sp>
        <p:nvSpPr>
          <p:cNvPr id="9" name="타원형 설명선[O] 8">
            <a:extLst>
              <a:ext uri="{FF2B5EF4-FFF2-40B4-BE49-F238E27FC236}">
                <a16:creationId xmlns:a16="http://schemas.microsoft.com/office/drawing/2014/main" id="{61B0C706-CAA2-98BE-A87F-BBD5A9ADD7E0}"/>
              </a:ext>
            </a:extLst>
          </p:cNvPr>
          <p:cNvSpPr/>
          <p:nvPr/>
        </p:nvSpPr>
        <p:spPr>
          <a:xfrm>
            <a:off x="7932198" y="3224981"/>
            <a:ext cx="3204838" cy="701335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스프링 컨테이너가 객체 생성</a:t>
            </a:r>
          </a:p>
        </p:txBody>
      </p:sp>
    </p:spTree>
    <p:extLst>
      <p:ext uri="{BB962C8B-B14F-4D97-AF65-F5344CB8AC3E}">
        <p14:creationId xmlns:p14="http://schemas.microsoft.com/office/powerpoint/2010/main" val="477914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66B68-2848-BDBB-29CE-DC2C89090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84AC102-CC1B-8FFE-F1A3-C2CF744A5BB6}"/>
              </a:ext>
            </a:extLst>
          </p:cNvPr>
          <p:cNvSpPr txBox="1"/>
          <p:nvPr/>
        </p:nvSpPr>
        <p:spPr>
          <a:xfrm>
            <a:off x="654756" y="496711"/>
            <a:ext cx="110904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3200" dirty="0" err="1"/>
              <a:t>ApplicationContext</a:t>
            </a:r>
            <a:r>
              <a:rPr kumimoji="1" lang="ko-KR" altLang="en-US" sz="3200" dirty="0"/>
              <a:t> 구성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828D45A-908E-3B42-E9CA-72E621BA7B5E}"/>
              </a:ext>
            </a:extLst>
          </p:cNvPr>
          <p:cNvSpPr/>
          <p:nvPr/>
        </p:nvSpPr>
        <p:spPr>
          <a:xfrm>
            <a:off x="949911" y="1651247"/>
            <a:ext cx="7474998" cy="42967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8F6AD0-C170-CA98-CE0D-3870E72C3F7C}"/>
              </a:ext>
            </a:extLst>
          </p:cNvPr>
          <p:cNvSpPr/>
          <p:nvPr/>
        </p:nvSpPr>
        <p:spPr>
          <a:xfrm>
            <a:off x="1267096" y="1451499"/>
            <a:ext cx="2288905" cy="3994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Application Context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A9FA185-B9CF-0CAA-7C35-CF8CE0431A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9440928"/>
              </p:ext>
            </p:extLst>
          </p:nvPr>
        </p:nvGraphicFramePr>
        <p:xfrm>
          <a:off x="1930399" y="3068100"/>
          <a:ext cx="523804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9023">
                  <a:extLst>
                    <a:ext uri="{9D8B030D-6E8A-4147-A177-3AD203B41FA5}">
                      <a16:colId xmlns:a16="http://schemas.microsoft.com/office/drawing/2014/main" val="2000566928"/>
                    </a:ext>
                  </a:extLst>
                </a:gridCol>
                <a:gridCol w="2619023">
                  <a:extLst>
                    <a:ext uri="{9D8B030D-6E8A-4147-A177-3AD203B41FA5}">
                      <a16:colId xmlns:a16="http://schemas.microsoft.com/office/drawing/2014/main" val="2105669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빈 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빈 객체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8096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빈 </a:t>
                      </a:r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객체 </a:t>
                      </a:r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157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빈 </a:t>
                      </a:r>
                      <a:r>
                        <a:rPr lang="en-US" altLang="ko-KR" dirty="0"/>
                        <a:t>B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객체 </a:t>
                      </a:r>
                      <a:r>
                        <a:rPr lang="en-US" altLang="ko-KR" dirty="0"/>
                        <a:t>B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40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빈 </a:t>
                      </a:r>
                      <a:r>
                        <a:rPr lang="en-US" altLang="ko-KR" dirty="0"/>
                        <a:t>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객체 </a:t>
                      </a:r>
                      <a:r>
                        <a:rPr lang="en-US" altLang="ko-KR" dirty="0"/>
                        <a:t>C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022484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994DC09E-6EBB-819F-68CD-C36B7C8DCAEB}"/>
              </a:ext>
            </a:extLst>
          </p:cNvPr>
          <p:cNvSpPr/>
          <p:nvPr/>
        </p:nvSpPr>
        <p:spPr>
          <a:xfrm>
            <a:off x="1670755" y="2530766"/>
            <a:ext cx="2288905" cy="3994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Bean Definition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C01156-4FC9-588A-B146-0C93AAE9CD0C}"/>
              </a:ext>
            </a:extLst>
          </p:cNvPr>
          <p:cNvSpPr txBox="1"/>
          <p:nvPr/>
        </p:nvSpPr>
        <p:spPr>
          <a:xfrm>
            <a:off x="2815207" y="4182128"/>
            <a:ext cx="1834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AOP </a:t>
            </a:r>
            <a:r>
              <a:rPr kumimoji="1" lang="ko-KR" altLang="en-US" dirty="0"/>
              <a:t>적용 대상</a:t>
            </a:r>
          </a:p>
        </p:txBody>
      </p:sp>
    </p:spTree>
    <p:extLst>
      <p:ext uri="{BB962C8B-B14F-4D97-AF65-F5344CB8AC3E}">
        <p14:creationId xmlns:p14="http://schemas.microsoft.com/office/powerpoint/2010/main" val="204513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0BD54-643D-222E-58CB-4B087D9D1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052A74D-60E2-6931-087F-7586E0D76F78}"/>
              </a:ext>
            </a:extLst>
          </p:cNvPr>
          <p:cNvSpPr txBox="1"/>
          <p:nvPr/>
        </p:nvSpPr>
        <p:spPr>
          <a:xfrm>
            <a:off x="654756" y="496711"/>
            <a:ext cx="110904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3200" dirty="0"/>
              <a:t>빈 인스턴스 생성</a:t>
            </a:r>
            <a:r>
              <a:rPr kumimoji="1" lang="en-US" altLang="ko-KR" sz="3200" dirty="0"/>
              <a:t>/</a:t>
            </a:r>
            <a:r>
              <a:rPr kumimoji="1" lang="ko-KR" altLang="en-US" sz="3200" dirty="0"/>
              <a:t>주입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3A71C49-1106-04DF-2E6D-AE063A1740A5}"/>
              </a:ext>
            </a:extLst>
          </p:cNvPr>
          <p:cNvSpPr/>
          <p:nvPr/>
        </p:nvSpPr>
        <p:spPr>
          <a:xfrm>
            <a:off x="949911" y="1651247"/>
            <a:ext cx="7474998" cy="42967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8FC2246-2B40-7DF2-E099-D76B6BB7FB4D}"/>
              </a:ext>
            </a:extLst>
          </p:cNvPr>
          <p:cNvSpPr/>
          <p:nvPr/>
        </p:nvSpPr>
        <p:spPr>
          <a:xfrm>
            <a:off x="1267096" y="1451499"/>
            <a:ext cx="2288905" cy="3994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Application Context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0A8C9EE3-1E87-A5C9-5AD6-DA9085CAB30B}"/>
              </a:ext>
            </a:extLst>
          </p:cNvPr>
          <p:cNvSpPr/>
          <p:nvPr/>
        </p:nvSpPr>
        <p:spPr>
          <a:xfrm>
            <a:off x="1670757" y="2178756"/>
            <a:ext cx="2032000" cy="8692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빈 </a:t>
            </a:r>
            <a:r>
              <a:rPr kumimoji="1" lang="en-US" altLang="ko-KR" dirty="0"/>
              <a:t>A</a:t>
            </a:r>
            <a:endParaRPr kumimoji="1"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7E65A20C-5651-A2FD-8730-DAD58B8B3961}"/>
              </a:ext>
            </a:extLst>
          </p:cNvPr>
          <p:cNvSpPr/>
          <p:nvPr/>
        </p:nvSpPr>
        <p:spPr>
          <a:xfrm>
            <a:off x="5334002" y="2178756"/>
            <a:ext cx="2032000" cy="8692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빈 </a:t>
            </a:r>
            <a:r>
              <a:rPr kumimoji="1" lang="en-US" altLang="ko-KR" dirty="0"/>
              <a:t>B</a:t>
            </a:r>
            <a:endParaRPr kumimoji="1"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6733EA78-F240-F7BA-CCFB-3F4CC51D860B}"/>
              </a:ext>
            </a:extLst>
          </p:cNvPr>
          <p:cNvSpPr/>
          <p:nvPr/>
        </p:nvSpPr>
        <p:spPr>
          <a:xfrm>
            <a:off x="3556001" y="4250267"/>
            <a:ext cx="2032000" cy="8692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빈 </a:t>
            </a:r>
            <a:r>
              <a:rPr kumimoji="1" lang="en-US" altLang="ko-KR" dirty="0"/>
              <a:t>C</a:t>
            </a:r>
            <a:endParaRPr kumimoji="1" lang="ko-KR" altLang="en-US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94462893-E416-BD2C-67A7-1715FD1AFE9F}"/>
              </a:ext>
            </a:extLst>
          </p:cNvPr>
          <p:cNvCxnSpPr/>
          <p:nvPr/>
        </p:nvCxnSpPr>
        <p:spPr>
          <a:xfrm>
            <a:off x="3841044" y="2613378"/>
            <a:ext cx="14619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7AE584A8-D9E6-F101-71BE-F35E3B2678C8}"/>
              </a:ext>
            </a:extLst>
          </p:cNvPr>
          <p:cNvCxnSpPr/>
          <p:nvPr/>
        </p:nvCxnSpPr>
        <p:spPr>
          <a:xfrm>
            <a:off x="3138311" y="3127022"/>
            <a:ext cx="812800" cy="11232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4407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14174-30DB-3610-9D1D-605C6FED5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1AF917F-6B99-227B-F82E-1D3C0E76E4AB}"/>
              </a:ext>
            </a:extLst>
          </p:cNvPr>
          <p:cNvSpPr txBox="1"/>
          <p:nvPr/>
        </p:nvSpPr>
        <p:spPr>
          <a:xfrm>
            <a:off x="654756" y="496711"/>
            <a:ext cx="110904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3200" dirty="0"/>
              <a:t>빈 인스턴스 생성</a:t>
            </a:r>
            <a:r>
              <a:rPr kumimoji="1" lang="en-US" altLang="ko-KR" sz="3200" dirty="0"/>
              <a:t>/</a:t>
            </a:r>
            <a:r>
              <a:rPr kumimoji="1" lang="ko-KR" altLang="en-US" sz="3200" dirty="0"/>
              <a:t>주입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D68008-3671-C310-3844-08FAC2775968}"/>
              </a:ext>
            </a:extLst>
          </p:cNvPr>
          <p:cNvSpPr txBox="1"/>
          <p:nvPr/>
        </p:nvSpPr>
        <p:spPr>
          <a:xfrm>
            <a:off x="1151467" y="1997839"/>
            <a:ext cx="626533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ko-KR" altLang="en-US" dirty="0"/>
              <a:t>생성자 주입</a:t>
            </a:r>
            <a:endParaRPr kumimoji="1" lang="en-US" altLang="ko-KR" dirty="0"/>
          </a:p>
          <a:p>
            <a:pPr marL="342900" indent="-342900">
              <a:buAutoNum type="arabicPeriod"/>
            </a:pPr>
            <a:endParaRPr kumimoji="1" lang="en-US" altLang="ko-KR" dirty="0"/>
          </a:p>
          <a:p>
            <a:pPr marL="342900" indent="-342900">
              <a:buAutoNum type="arabicPeriod"/>
            </a:pPr>
            <a:endParaRPr kumimoji="1" lang="en-US" altLang="ko-KR" dirty="0"/>
          </a:p>
          <a:p>
            <a:pPr marL="342900" indent="-342900">
              <a:buAutoNum type="arabicPeriod"/>
            </a:pPr>
            <a:r>
              <a:rPr kumimoji="1" lang="ko-KR" altLang="en-US" dirty="0"/>
              <a:t>필드 주입</a:t>
            </a:r>
            <a:endParaRPr kumimoji="1" lang="en-US" altLang="ko-KR" dirty="0"/>
          </a:p>
          <a:p>
            <a:pPr marL="342900" indent="-342900">
              <a:buAutoNum type="arabicPeriod"/>
            </a:pPr>
            <a:endParaRPr kumimoji="1" lang="en-US" altLang="ko-KR" dirty="0"/>
          </a:p>
          <a:p>
            <a:pPr marL="342900" indent="-342900">
              <a:buAutoNum type="arabicPeriod"/>
            </a:pPr>
            <a:endParaRPr kumimoji="1" lang="en-US" altLang="ko-KR" dirty="0"/>
          </a:p>
          <a:p>
            <a:pPr marL="342900" indent="-342900">
              <a:buAutoNum type="arabicPeriod"/>
            </a:pPr>
            <a:r>
              <a:rPr kumimoji="1" lang="en-US" altLang="ko-KR" dirty="0"/>
              <a:t>Setter </a:t>
            </a:r>
            <a:r>
              <a:rPr kumimoji="1" lang="ko-KR" altLang="en-US" dirty="0"/>
              <a:t>주입</a:t>
            </a:r>
            <a:endParaRPr kumimoji="1" lang="en-US" altLang="ko-KR" dirty="0"/>
          </a:p>
          <a:p>
            <a:pPr marL="342900" indent="-342900">
              <a:buAutoNum type="arabicPeriod"/>
            </a:pPr>
            <a:endParaRPr kumimoji="1" lang="en-US" altLang="ko-KR" dirty="0"/>
          </a:p>
          <a:p>
            <a:pPr marL="342900" indent="-342900">
              <a:buAutoNum type="arabicPeriod"/>
            </a:pPr>
            <a:endParaRPr kumimoji="1" lang="en-US" altLang="ko-KR" dirty="0"/>
          </a:p>
          <a:p>
            <a:pPr marL="342900" indent="-342900">
              <a:buAutoNum type="arabicPeriod"/>
            </a:pPr>
            <a:r>
              <a:rPr kumimoji="1" lang="ko-KR" altLang="en-US" dirty="0"/>
              <a:t>일반 메서드 주입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99215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F3159-C761-8CE6-A55A-C2FEAFE1E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타원 9">
            <a:extLst>
              <a:ext uri="{FF2B5EF4-FFF2-40B4-BE49-F238E27FC236}">
                <a16:creationId xmlns:a16="http://schemas.microsoft.com/office/drawing/2014/main" id="{92AC9EBA-A6B8-63CC-A53B-93815F21D972}"/>
              </a:ext>
            </a:extLst>
          </p:cNvPr>
          <p:cNvSpPr/>
          <p:nvPr/>
        </p:nvSpPr>
        <p:spPr>
          <a:xfrm>
            <a:off x="3556001" y="4930959"/>
            <a:ext cx="2032000" cy="8692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프록시 빈 </a:t>
            </a:r>
            <a:r>
              <a:rPr kumimoji="1" lang="en-US" altLang="ko-KR" dirty="0"/>
              <a:t>C</a:t>
            </a:r>
            <a:endParaRPr kumimoji="1"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5F018F-4AC1-535C-8BC9-13A6F6C8D9F8}"/>
              </a:ext>
            </a:extLst>
          </p:cNvPr>
          <p:cNvSpPr txBox="1"/>
          <p:nvPr/>
        </p:nvSpPr>
        <p:spPr>
          <a:xfrm>
            <a:off x="654756" y="496711"/>
            <a:ext cx="110904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3200" dirty="0"/>
              <a:t>프록시 생성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E7B3D33-1D38-8D80-5BF7-D57D15C61925}"/>
              </a:ext>
            </a:extLst>
          </p:cNvPr>
          <p:cNvSpPr/>
          <p:nvPr/>
        </p:nvSpPr>
        <p:spPr>
          <a:xfrm>
            <a:off x="949911" y="1651247"/>
            <a:ext cx="7474998" cy="42967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F1C925B-C18E-1E0C-10CF-B05A3D05E6EC}"/>
              </a:ext>
            </a:extLst>
          </p:cNvPr>
          <p:cNvSpPr/>
          <p:nvPr/>
        </p:nvSpPr>
        <p:spPr>
          <a:xfrm>
            <a:off x="1267096" y="1451499"/>
            <a:ext cx="2288905" cy="3994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Application Context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1A7EAC1B-D820-D59D-4C87-B40C57489FF4}"/>
              </a:ext>
            </a:extLst>
          </p:cNvPr>
          <p:cNvSpPr/>
          <p:nvPr/>
        </p:nvSpPr>
        <p:spPr>
          <a:xfrm>
            <a:off x="1670757" y="2178756"/>
            <a:ext cx="2032000" cy="8692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빈 </a:t>
            </a:r>
            <a:r>
              <a:rPr kumimoji="1" lang="en-US" altLang="ko-KR" dirty="0"/>
              <a:t>A</a:t>
            </a:r>
            <a:endParaRPr kumimoji="1"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7A692DA4-0CA8-8FB6-6A6D-E54D274011F9}"/>
              </a:ext>
            </a:extLst>
          </p:cNvPr>
          <p:cNvSpPr/>
          <p:nvPr/>
        </p:nvSpPr>
        <p:spPr>
          <a:xfrm>
            <a:off x="5334002" y="2178756"/>
            <a:ext cx="2032000" cy="8692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빈 </a:t>
            </a:r>
            <a:r>
              <a:rPr kumimoji="1" lang="en-US" altLang="ko-KR" dirty="0"/>
              <a:t>B</a:t>
            </a:r>
            <a:endParaRPr kumimoji="1"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49469E26-49C5-2CD5-8373-B8C494814AF8}"/>
              </a:ext>
            </a:extLst>
          </p:cNvPr>
          <p:cNvSpPr/>
          <p:nvPr/>
        </p:nvSpPr>
        <p:spPr>
          <a:xfrm>
            <a:off x="3556001" y="4250267"/>
            <a:ext cx="2032000" cy="8692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빈 </a:t>
            </a:r>
            <a:r>
              <a:rPr kumimoji="1" lang="en-US" altLang="ko-KR" dirty="0"/>
              <a:t>C</a:t>
            </a:r>
            <a:endParaRPr kumimoji="1" lang="ko-KR" altLang="en-US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925DD06C-7478-B61A-58F1-F81DC11F0E24}"/>
              </a:ext>
            </a:extLst>
          </p:cNvPr>
          <p:cNvCxnSpPr/>
          <p:nvPr/>
        </p:nvCxnSpPr>
        <p:spPr>
          <a:xfrm>
            <a:off x="3841044" y="2613378"/>
            <a:ext cx="14619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EBD90999-B8CA-7047-D13A-983572729E15}"/>
              </a:ext>
            </a:extLst>
          </p:cNvPr>
          <p:cNvCxnSpPr/>
          <p:nvPr/>
        </p:nvCxnSpPr>
        <p:spPr>
          <a:xfrm>
            <a:off x="3138311" y="3127022"/>
            <a:ext cx="812800" cy="11232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87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560C8-50E1-11D5-BC6A-C29953984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37384E-321F-50E7-E246-A277654E0581}"/>
              </a:ext>
            </a:extLst>
          </p:cNvPr>
          <p:cNvSpPr txBox="1"/>
          <p:nvPr/>
        </p:nvSpPr>
        <p:spPr>
          <a:xfrm>
            <a:off x="654756" y="496711"/>
            <a:ext cx="110904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3200" dirty="0"/>
              <a:t>빈 생성 후 초기화 </a:t>
            </a:r>
            <a:r>
              <a:rPr kumimoji="1" lang="en-US" altLang="ko-KR" sz="3200" dirty="0"/>
              <a:t>-</a:t>
            </a:r>
            <a:r>
              <a:rPr kumimoji="1" lang="ko-KR" altLang="en-US" sz="3200" dirty="0"/>
              <a:t> </a:t>
            </a:r>
            <a:r>
              <a:rPr kumimoji="1" lang="en-US" altLang="ko-KR" sz="3200" dirty="0"/>
              <a:t>@</a:t>
            </a:r>
            <a:r>
              <a:rPr kumimoji="1" lang="en-US" altLang="ko-KR" sz="3200" dirty="0" err="1"/>
              <a:t>PostConstruct</a:t>
            </a:r>
            <a:endParaRPr kumimoji="1" lang="ko-KR" altLang="en-US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5290B0-41FF-48A0-2C21-C6B26F1B5269}"/>
              </a:ext>
            </a:extLst>
          </p:cNvPr>
          <p:cNvSpPr txBox="1"/>
          <p:nvPr/>
        </p:nvSpPr>
        <p:spPr>
          <a:xfrm>
            <a:off x="880534" y="1782395"/>
            <a:ext cx="609600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sz="1600" dirty="0"/>
              <a:t>@Component</a:t>
            </a:r>
          </a:p>
          <a:p>
            <a:r>
              <a:rPr lang="en" altLang="ko-KR" sz="1600" dirty="0"/>
              <a:t>@</a:t>
            </a:r>
            <a:r>
              <a:rPr lang="en" altLang="ko-KR" sz="1600" dirty="0" err="1"/>
              <a:t>RequiredArgsConstructor</a:t>
            </a:r>
            <a:endParaRPr lang="en" altLang="ko-KR" sz="1600" dirty="0"/>
          </a:p>
          <a:p>
            <a:r>
              <a:rPr lang="en" altLang="ko-KR" sz="1600" dirty="0"/>
              <a:t>public class </a:t>
            </a:r>
            <a:r>
              <a:rPr lang="en" altLang="ko-KR" sz="1600" dirty="0" err="1"/>
              <a:t>CacheService</a:t>
            </a:r>
            <a:r>
              <a:rPr lang="en" altLang="ko-KR" sz="1600" dirty="0"/>
              <a:t> {</a:t>
            </a:r>
          </a:p>
          <a:p>
            <a:endParaRPr lang="en" altLang="ko-KR" sz="1600" dirty="0"/>
          </a:p>
          <a:p>
            <a:r>
              <a:rPr lang="en" altLang="ko-KR" sz="1600" dirty="0"/>
              <a:t>    private final </a:t>
            </a:r>
            <a:r>
              <a:rPr lang="en" altLang="ko-KR" sz="1600" dirty="0" err="1"/>
              <a:t>UserRepository</a:t>
            </a:r>
            <a:r>
              <a:rPr lang="en" altLang="ko-KR" sz="1600" dirty="0"/>
              <a:t> </a:t>
            </a:r>
            <a:r>
              <a:rPr lang="en" altLang="ko-KR" sz="1600" dirty="0" err="1"/>
              <a:t>userRepository</a:t>
            </a:r>
            <a:r>
              <a:rPr lang="en" altLang="ko-KR" sz="1600" dirty="0"/>
              <a:t>;</a:t>
            </a:r>
          </a:p>
          <a:p>
            <a:r>
              <a:rPr lang="en" altLang="ko-KR" sz="1600" dirty="0"/>
              <a:t>    private final Map&lt;Long, User&gt; cache = new HashMap&lt;&gt;();</a:t>
            </a:r>
          </a:p>
          <a:p>
            <a:endParaRPr lang="en" altLang="ko-KR" sz="1600" dirty="0"/>
          </a:p>
          <a:p>
            <a:r>
              <a:rPr lang="en" altLang="ko-KR" sz="1600" dirty="0"/>
              <a:t>    @</a:t>
            </a:r>
            <a:r>
              <a:rPr lang="en" altLang="ko-KR" sz="1600" dirty="0" err="1"/>
              <a:t>PostConstruct</a:t>
            </a:r>
            <a:endParaRPr lang="en" altLang="ko-KR" sz="1600" dirty="0"/>
          </a:p>
          <a:p>
            <a:r>
              <a:rPr lang="en" altLang="ko-KR" sz="1600" dirty="0"/>
              <a:t>    public void </a:t>
            </a:r>
            <a:r>
              <a:rPr lang="en" altLang="ko-KR" sz="1600" dirty="0" err="1"/>
              <a:t>init</a:t>
            </a:r>
            <a:r>
              <a:rPr lang="en" altLang="ko-KR" sz="1600" dirty="0"/>
              <a:t>() {</a:t>
            </a:r>
          </a:p>
          <a:p>
            <a:r>
              <a:rPr lang="en" altLang="ko-KR" sz="1600" dirty="0"/>
              <a:t>        List&lt;User&gt; users = </a:t>
            </a:r>
            <a:r>
              <a:rPr lang="en" altLang="ko-KR" sz="1600" dirty="0" err="1"/>
              <a:t>userRepository.findAll</a:t>
            </a:r>
            <a:r>
              <a:rPr lang="en" altLang="ko-KR" sz="1600" dirty="0"/>
              <a:t>();</a:t>
            </a:r>
          </a:p>
          <a:p>
            <a:r>
              <a:rPr lang="en" altLang="ko-KR" sz="1600" dirty="0"/>
              <a:t>        </a:t>
            </a:r>
            <a:r>
              <a:rPr lang="en" altLang="ko-KR" sz="1600" dirty="0" err="1"/>
              <a:t>users.forEach</a:t>
            </a:r>
            <a:r>
              <a:rPr lang="en" altLang="ko-KR" sz="1600" dirty="0"/>
              <a:t>(user -&gt; </a:t>
            </a:r>
            <a:r>
              <a:rPr lang="en" altLang="ko-KR" sz="1600" dirty="0" err="1"/>
              <a:t>cache.put</a:t>
            </a:r>
            <a:r>
              <a:rPr lang="en" altLang="ko-KR" sz="1600" dirty="0"/>
              <a:t>(</a:t>
            </a:r>
            <a:r>
              <a:rPr lang="en" altLang="ko-KR" sz="1600" dirty="0" err="1"/>
              <a:t>user.getId</a:t>
            </a:r>
            <a:r>
              <a:rPr lang="en" altLang="ko-KR" sz="1600" dirty="0"/>
              <a:t>(), user));</a:t>
            </a:r>
          </a:p>
          <a:p>
            <a:r>
              <a:rPr lang="en" altLang="ko-KR" sz="1600" dirty="0"/>
              <a:t>    }</a:t>
            </a:r>
          </a:p>
          <a:p>
            <a:r>
              <a:rPr lang="en" altLang="ko-KR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95482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0FE4F-9296-7131-127B-292F6F8AF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E488D14-E45F-CFD6-1655-BCC5F867F7F9}"/>
              </a:ext>
            </a:extLst>
          </p:cNvPr>
          <p:cNvSpPr txBox="1"/>
          <p:nvPr/>
        </p:nvSpPr>
        <p:spPr>
          <a:xfrm>
            <a:off x="654756" y="496711"/>
            <a:ext cx="110904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3200" dirty="0"/>
              <a:t>빈 소멸 전 초기화 </a:t>
            </a:r>
            <a:r>
              <a:rPr kumimoji="1" lang="en-US" altLang="ko-KR" sz="3200" dirty="0"/>
              <a:t>-</a:t>
            </a:r>
            <a:r>
              <a:rPr kumimoji="1" lang="ko-KR" altLang="en-US" sz="3200" dirty="0"/>
              <a:t> </a:t>
            </a:r>
            <a:r>
              <a:rPr kumimoji="1" lang="en-US" altLang="ko-KR" sz="3200" dirty="0"/>
              <a:t>@</a:t>
            </a:r>
            <a:r>
              <a:rPr kumimoji="1" lang="en-US" altLang="ko-KR" sz="3200" dirty="0" err="1"/>
              <a:t>PreDestroy</a:t>
            </a:r>
            <a:endParaRPr kumimoji="1" lang="ko-KR" altLang="en-US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9EB72D-4B72-F966-A349-4D9B17A76723}"/>
              </a:ext>
            </a:extLst>
          </p:cNvPr>
          <p:cNvSpPr txBox="1"/>
          <p:nvPr/>
        </p:nvSpPr>
        <p:spPr>
          <a:xfrm>
            <a:off x="835379" y="2397948"/>
            <a:ext cx="60960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sz="1600" dirty="0"/>
              <a:t>@Component</a:t>
            </a:r>
          </a:p>
          <a:p>
            <a:r>
              <a:rPr lang="en" altLang="ko-KR" sz="1600" dirty="0"/>
              <a:t>public class </a:t>
            </a:r>
            <a:r>
              <a:rPr lang="en" altLang="ko-KR" sz="1600" dirty="0" err="1"/>
              <a:t>CacheService</a:t>
            </a:r>
            <a:r>
              <a:rPr lang="en" altLang="ko-KR" sz="1600" dirty="0"/>
              <a:t> {</a:t>
            </a:r>
          </a:p>
          <a:p>
            <a:endParaRPr lang="en" altLang="ko-KR" sz="1600" dirty="0"/>
          </a:p>
          <a:p>
            <a:r>
              <a:rPr lang="en" altLang="ko-KR" sz="1600" dirty="0"/>
              <a:t>    @</a:t>
            </a:r>
            <a:r>
              <a:rPr lang="en" altLang="ko-KR" sz="1600" dirty="0" err="1"/>
              <a:t>PreDestroy</a:t>
            </a:r>
            <a:endParaRPr lang="en" altLang="ko-KR" sz="1600" dirty="0"/>
          </a:p>
          <a:p>
            <a:r>
              <a:rPr lang="en" altLang="ko-KR" sz="1600" dirty="0"/>
              <a:t>    public void shutdown() {</a:t>
            </a:r>
          </a:p>
          <a:p>
            <a:r>
              <a:rPr lang="en" altLang="ko-KR" sz="1600" dirty="0"/>
              <a:t>        </a:t>
            </a:r>
            <a:r>
              <a:rPr lang="en" altLang="ko-KR" sz="1600" dirty="0" err="1"/>
              <a:t>System.out.println</a:t>
            </a:r>
            <a:r>
              <a:rPr lang="en" altLang="ko-KR" sz="1600" dirty="0"/>
              <a:t>("</a:t>
            </a:r>
            <a:r>
              <a:rPr lang="ko-KR" altLang="en-US" sz="1600" dirty="0"/>
              <a:t>캐시 정리</a:t>
            </a:r>
            <a:r>
              <a:rPr lang="en-US" altLang="ko-KR" sz="1600" dirty="0"/>
              <a:t>");</a:t>
            </a:r>
          </a:p>
          <a:p>
            <a:r>
              <a:rPr lang="en-US" altLang="ko-KR" sz="1600" dirty="0"/>
              <a:t>    }</a:t>
            </a:r>
          </a:p>
          <a:p>
            <a:r>
              <a:rPr lang="en-US" altLang="ko-KR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71156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0998A-C7C0-78CD-AFD9-6840F1709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1B461B3-67A8-3FB3-A035-5FD6B16B989D}"/>
              </a:ext>
            </a:extLst>
          </p:cNvPr>
          <p:cNvSpPr txBox="1"/>
          <p:nvPr/>
        </p:nvSpPr>
        <p:spPr>
          <a:xfrm>
            <a:off x="654756" y="496711"/>
            <a:ext cx="110904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3200" dirty="0"/>
              <a:t>빈 </a:t>
            </a:r>
            <a:r>
              <a:rPr kumimoji="1" lang="ko-KR" altLang="en-US" sz="3200" dirty="0" err="1"/>
              <a:t>스코프</a:t>
            </a:r>
            <a:endParaRPr kumimoji="1" lang="ko-KR" altLang="en-US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E6ED13-582B-FD92-A50F-359AAF615CFC}"/>
              </a:ext>
            </a:extLst>
          </p:cNvPr>
          <p:cNvSpPr txBox="1"/>
          <p:nvPr/>
        </p:nvSpPr>
        <p:spPr>
          <a:xfrm>
            <a:off x="654756" y="1567906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/>
              <a:t>스프링 컨테이너가 빈 객체를 생성하고 유지하는 범위</a:t>
            </a:r>
            <a:endParaRPr lang="en-US" altLang="ko-KR" sz="1600" dirty="0"/>
          </a:p>
          <a:p>
            <a:r>
              <a:rPr lang="ko-KR" altLang="en-US" sz="1600" dirty="0"/>
              <a:t>객체의 </a:t>
            </a:r>
            <a:r>
              <a:rPr lang="ko-KR" altLang="en-US" sz="1600" b="1" dirty="0"/>
              <a:t>생명주기 </a:t>
            </a:r>
            <a:r>
              <a:rPr lang="en-US" altLang="ko-KR" sz="1600" b="1" dirty="0"/>
              <a:t>+ </a:t>
            </a:r>
            <a:r>
              <a:rPr lang="ko-KR" altLang="en-US" sz="1600" b="1" dirty="0"/>
              <a:t>생성 전략</a:t>
            </a:r>
            <a:r>
              <a:rPr lang="ko-KR" altLang="en-US" sz="1600" dirty="0"/>
              <a:t>을 결정하는 설정</a:t>
            </a:r>
            <a:endParaRPr lang="en-US" altLang="ko-KR" sz="16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01CDD3B-72A0-AFA6-A84A-A46EAF53BC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638845"/>
              </p:ext>
            </p:extLst>
          </p:nvPr>
        </p:nvGraphicFramePr>
        <p:xfrm>
          <a:off x="654756" y="2691783"/>
          <a:ext cx="10515600" cy="18288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86917579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5325934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2430182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790982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스코프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생성 시점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개수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소멸 시점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5079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/>
                        <a:t>singleton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컨테이너 시작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1</a:t>
                      </a:r>
                      <a:r>
                        <a:rPr lang="ko-KR" altLang="en-US"/>
                        <a:t>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컨테이너 종료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49524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/>
                        <a:t>prototype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요청 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매번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개발자 책임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262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/>
                        <a:t>request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/>
                        <a:t>HTTP </a:t>
                      </a:r>
                      <a:r>
                        <a:rPr lang="ko-KR" altLang="en-US"/>
                        <a:t>요청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요청마다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요청 종료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8279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/>
                        <a:t>session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세션 생성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세션마다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세션 만료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6809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1619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ACF49-EF97-BC23-D3B9-75ECDC83F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1AF1568-0D90-BE70-AA62-5641BF7FF4F4}"/>
              </a:ext>
            </a:extLst>
          </p:cNvPr>
          <p:cNvSpPr txBox="1"/>
          <p:nvPr/>
        </p:nvSpPr>
        <p:spPr>
          <a:xfrm>
            <a:off x="654756" y="496711"/>
            <a:ext cx="110904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3200" dirty="0" err="1"/>
              <a:t>스코프</a:t>
            </a:r>
            <a:r>
              <a:rPr kumimoji="1" lang="ko-KR" altLang="en-US" sz="3200" dirty="0"/>
              <a:t> 충돌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21D751-4866-15BF-8204-54BEF53BD6FD}"/>
              </a:ext>
            </a:extLst>
          </p:cNvPr>
          <p:cNvSpPr txBox="1"/>
          <p:nvPr/>
        </p:nvSpPr>
        <p:spPr>
          <a:xfrm>
            <a:off x="835379" y="2397948"/>
            <a:ext cx="6096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sz="1600" dirty="0"/>
              <a:t>@Component </a:t>
            </a:r>
          </a:p>
          <a:p>
            <a:r>
              <a:rPr lang="en" altLang="ko-KR" sz="1600" dirty="0"/>
              <a:t>public class A {</a:t>
            </a:r>
          </a:p>
          <a:p>
            <a:r>
              <a:rPr lang="ko-KR" altLang="en-US" sz="1600" dirty="0"/>
              <a:t>    </a:t>
            </a:r>
            <a:r>
              <a:rPr lang="en" altLang="ko-KR" sz="1600" dirty="0"/>
              <a:t>private final B b; </a:t>
            </a:r>
          </a:p>
          <a:p>
            <a:r>
              <a:rPr lang="en" altLang="ko-KR" sz="1600" dirty="0"/>
              <a:t>}</a:t>
            </a:r>
            <a:r>
              <a:rPr lang="en-US" altLang="ko-KR" sz="1600" dirty="0"/>
              <a:t> </a:t>
            </a:r>
          </a:p>
          <a:p>
            <a:endParaRPr lang="en-US" altLang="ko-KR" sz="1600" dirty="0"/>
          </a:p>
          <a:p>
            <a:r>
              <a:rPr lang="en-US" altLang="ko-KR" sz="1600" dirty="0"/>
              <a:t>A : singleton</a:t>
            </a:r>
          </a:p>
          <a:p>
            <a:r>
              <a:rPr lang="en-US" altLang="ko-KR" sz="1600" dirty="0"/>
              <a:t>B : prototype</a:t>
            </a:r>
          </a:p>
        </p:txBody>
      </p:sp>
    </p:spTree>
    <p:extLst>
      <p:ext uri="{BB962C8B-B14F-4D97-AF65-F5344CB8AC3E}">
        <p14:creationId xmlns:p14="http://schemas.microsoft.com/office/powerpoint/2010/main" val="3606841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9A89A-C9D7-7F05-ACFE-6CB59439F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58A0778-F73F-80A0-C3A5-379AA8B92F5B}"/>
              </a:ext>
            </a:extLst>
          </p:cNvPr>
          <p:cNvSpPr txBox="1"/>
          <p:nvPr/>
        </p:nvSpPr>
        <p:spPr>
          <a:xfrm>
            <a:off x="654756" y="496711"/>
            <a:ext cx="110904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3200" dirty="0" err="1"/>
              <a:t>스코프</a:t>
            </a:r>
            <a:r>
              <a:rPr kumimoji="1" lang="ko-KR" altLang="en-US" sz="3200" dirty="0"/>
              <a:t> 충돌</a:t>
            </a:r>
          </a:p>
        </p:txBody>
      </p:sp>
      <p:pic>
        <p:nvPicPr>
          <p:cNvPr id="4" name="그림 3" descr="도표, 텍스트, 라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4410D4B-B3FF-CE36-D7CF-EBB2D2266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756" y="1603852"/>
            <a:ext cx="7772400" cy="3650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7081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1C2D2-658B-FA7C-0F0A-0285CA0CA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352874C-1227-BB75-99E0-424813E426AD}"/>
              </a:ext>
            </a:extLst>
          </p:cNvPr>
          <p:cNvSpPr txBox="1"/>
          <p:nvPr/>
        </p:nvSpPr>
        <p:spPr>
          <a:xfrm>
            <a:off x="654756" y="496711"/>
            <a:ext cx="110904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3200" dirty="0" err="1"/>
              <a:t>스코프</a:t>
            </a:r>
            <a:r>
              <a:rPr kumimoji="1" lang="ko-KR" altLang="en-US" sz="3200" dirty="0"/>
              <a:t> 충돌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63D0FC-30E2-0AA5-1CC8-CF83F3D21917}"/>
              </a:ext>
            </a:extLst>
          </p:cNvPr>
          <p:cNvSpPr txBox="1"/>
          <p:nvPr/>
        </p:nvSpPr>
        <p:spPr>
          <a:xfrm>
            <a:off x="654756" y="1980697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sz="1600" dirty="0"/>
              <a:t>@Component</a:t>
            </a:r>
          </a:p>
          <a:p>
            <a:r>
              <a:rPr lang="en" altLang="ko-KR" sz="1600" dirty="0"/>
              <a:t>public class A {</a:t>
            </a:r>
          </a:p>
          <a:p>
            <a:endParaRPr lang="en" altLang="ko-KR" sz="1600" dirty="0"/>
          </a:p>
          <a:p>
            <a:r>
              <a:rPr lang="en" altLang="ko-KR" sz="1600" dirty="0"/>
              <a:t>    private final </a:t>
            </a:r>
            <a:r>
              <a:rPr lang="en" altLang="ko-KR" sz="1600" dirty="0" err="1"/>
              <a:t>ObjectProvider</a:t>
            </a:r>
            <a:r>
              <a:rPr lang="en" altLang="ko-KR" sz="1600" dirty="0"/>
              <a:t>&lt;B&gt; provider;</a:t>
            </a:r>
          </a:p>
          <a:p>
            <a:endParaRPr lang="en" altLang="ko-KR" sz="1600" dirty="0"/>
          </a:p>
          <a:p>
            <a:r>
              <a:rPr lang="en" altLang="ko-KR" sz="1600" dirty="0"/>
              <a:t>    public void use() {</a:t>
            </a:r>
          </a:p>
          <a:p>
            <a:r>
              <a:rPr lang="en" altLang="ko-KR" sz="1600" dirty="0"/>
              <a:t>        B b = </a:t>
            </a:r>
            <a:r>
              <a:rPr lang="en" altLang="ko-KR" sz="1600" dirty="0" err="1"/>
              <a:t>provider.getObject</a:t>
            </a:r>
            <a:r>
              <a:rPr lang="en" altLang="ko-KR" sz="1600" dirty="0"/>
              <a:t>();</a:t>
            </a:r>
          </a:p>
          <a:p>
            <a:r>
              <a:rPr lang="ko-KR" altLang="en-US" sz="1600" dirty="0"/>
              <a:t>    </a:t>
            </a:r>
            <a:r>
              <a:rPr lang="en-US" altLang="ko-KR" sz="1600" dirty="0"/>
              <a:t>}</a:t>
            </a:r>
          </a:p>
          <a:p>
            <a:r>
              <a:rPr lang="en-US" altLang="ko-KR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93127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1181</TotalTime>
  <Words>334</Words>
  <Application>Microsoft Macintosh PowerPoint</Application>
  <PresentationFormat>와이드스크린</PresentationFormat>
  <Paragraphs>113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Spring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이진욱(2019142026)</dc:creator>
  <cp:lastModifiedBy>이진욱(2019142026)</cp:lastModifiedBy>
  <cp:revision>4</cp:revision>
  <dcterms:created xsi:type="dcterms:W3CDTF">2026-02-23T10:01:15Z</dcterms:created>
  <dcterms:modified xsi:type="dcterms:W3CDTF">2026-02-24T05:43:12Z</dcterms:modified>
</cp:coreProperties>
</file>